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527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Calibri"/>
              </a:defRPr>
            </a:pPr>
            <a:r>
              <a:t>Series1 Numerical Methods Laboratory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2004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>
                <a:solidFill>
                  <a:srgbClr val="BDC3C7"/>
                </a:solidFill>
                <a:latin typeface="Calibri"/>
              </a:defRPr>
            </a:pPr>
            <a:r>
              <a:t>Numerical Series and Convergence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>
                <a:solidFill>
                  <a:srgbClr val="BDC3C7"/>
                </a:solidFill>
                <a:latin typeface="Calibri"/>
              </a:defRPr>
            </a:pPr>
            <a:r>
              <a:t>Course: Numerical Methods Laboratory</a:t>
            </a:r>
          </a:p>
          <a:p>
            <a:pPr algn="ctr">
              <a:defRPr sz="1600">
                <a:solidFill>
                  <a:srgbClr val="BDC3C7"/>
                </a:solidFill>
                <a:latin typeface="Calibri"/>
              </a:defRPr>
            </a:pPr>
            <a:r>
              <a:t>Student: [Student Name]</a:t>
            </a:r>
          </a:p>
          <a:p>
            <a:pPr algn="ctr">
              <a:defRPr sz="1600">
                <a:solidFill>
                  <a:srgbClr val="BDC3C7"/>
                </a:solidFill>
                <a:latin typeface="Calibri"/>
              </a:defRPr>
            </a:pPr>
            <a:r>
              <a:t>Date: [Date]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5276"/>
                </a:solidFill>
                <a:latin typeface="Calibri"/>
              </a:defRPr>
            </a:pPr>
            <a:r>
              <a:t>Introduction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8229600" cy="3810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Numerical approximation is the process of finding approximate solutions to mathematical problems using computational methods.</a:t>
            </a:r>
          </a:p>
          <a:p>
            <a:pPr>
              <a:spcAft>
                <a:spcPts val="12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Convergence refers to the tendency of a sequence or series to approach a specific value as the number of terms or iterations increases.</a:t>
            </a:r>
          </a:p>
          <a:p>
            <a:pPr>
              <a:spcAft>
                <a:spcPts val="12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Mathematical series are fundamental in numerical methods because they allow us to compute transcendental functions (e, ln, e^x) to arbitrary precision.</a:t>
            </a:r>
          </a:p>
          <a:p>
            <a:pPr>
              <a:spcAft>
                <a:spcPts val="12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This laboratory investigates three key convergence phenomena:</a:t>
            </a:r>
          </a:p>
          <a:p>
            <a:pPr>
              <a:spcAft>
                <a:spcPts val="12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   • (1 + 1/n)^n → e</a:t>
            </a:r>
          </a:p>
          <a:p>
            <a:pPr>
              <a:spcAft>
                <a:spcPts val="12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   • (a^h - 1)/h → ln(a)</a:t>
            </a:r>
          </a:p>
          <a:p>
            <a:pPr>
              <a:spcAft>
                <a:spcPts val="12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   • e^x = Σ(x^n / n!)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5276"/>
                </a:solidFill>
                <a:latin typeface="Calibri"/>
              </a:defRPr>
            </a:pPr>
            <a:r>
              <a:t>Exercise 1: Theory — (1 + 1/n)^n → 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8229600" cy="3810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The mathematical constant e ≈ 2.718281828459045 is one of the most important constants in mathematics.</a:t>
            </a:r>
          </a:p>
          <a:p>
            <a:pPr>
              <a:spcAft>
                <a:spcPts val="12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The sequence a_n = (1 + 1/n)^n converges to e as n approaches infinity.</a:t>
            </a:r>
          </a:p>
          <a:p>
            <a:pPr>
              <a:spcAft>
                <a:spcPts val="12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For small n, the value is far from e:</a:t>
            </a:r>
          </a:p>
          <a:p>
            <a:pPr>
              <a:spcAft>
                <a:spcPts val="12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   • n = 1: (1 + 1/1)^1 = 2.0</a:t>
            </a:r>
          </a:p>
          <a:p>
            <a:pPr>
              <a:spcAft>
                <a:spcPts val="12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   • n = 2: (1 + 1/2)^2 = 2.25</a:t>
            </a:r>
          </a:p>
          <a:p>
            <a:pPr>
              <a:spcAft>
                <a:spcPts val="12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   • n = 4: (1 + 1/4)^4 = 2.4414</a:t>
            </a:r>
          </a:p>
          <a:p>
            <a:pPr>
              <a:spcAft>
                <a:spcPts val="12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As n increases, the value approaches e more closely.</a:t>
            </a:r>
          </a:p>
          <a:p>
            <a:pPr>
              <a:spcAft>
                <a:spcPts val="12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The error |(1 + 1/n)^n - e| decreases approximately as 1/n.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5276"/>
                </a:solidFill>
                <a:latin typeface="Calibri"/>
              </a:defRPr>
            </a:pPr>
            <a:r>
              <a:t>Exercise 1: Results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8229600" cy="3810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exercise1_resul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5029200" cy="215537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760720" y="1371600"/>
            <a:ext cx="3200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2C3E50"/>
                </a:solidFill>
                <a:latin typeface="Calibri"/>
              </a:defRPr>
            </a:pPr>
            <a:r>
              <a:t>The bar chart shows (1 + 1/n)^n approaching the dashed line at e.</a:t>
            </a:r>
          </a:p>
          <a:p>
            <a:pPr>
              <a:spcAft>
                <a:spcPts val="800"/>
              </a:spcAft>
              <a:defRPr sz="1400">
                <a:solidFill>
                  <a:srgbClr val="2C3E50"/>
                </a:solidFill>
                <a:latin typeface="Calibri"/>
              </a:defRPr>
            </a:pPr>
            <a:r>
              <a:t>At n = 1,048,576, the value is 2.718280532282396.</a:t>
            </a:r>
          </a:p>
          <a:p>
            <a:pPr>
              <a:spcAft>
                <a:spcPts val="800"/>
              </a:spcAft>
              <a:defRPr sz="1400">
                <a:solidFill>
                  <a:srgbClr val="2C3E50"/>
                </a:solidFill>
                <a:latin typeface="Calibri"/>
              </a:defRPr>
            </a:pPr>
            <a:r>
              <a:t>The absolute error at this n is 1.30 × 10⁻⁶.</a:t>
            </a:r>
          </a:p>
          <a:p>
            <a:pPr>
              <a:spcAft>
                <a:spcPts val="800"/>
              </a:spcAft>
              <a:defRPr sz="1400">
                <a:solidFill>
                  <a:srgbClr val="2C3E50"/>
                </a:solidFill>
                <a:latin typeface="Calibri"/>
              </a:defRPr>
            </a:pPr>
            <a:r>
              <a:t>The error decreases approximately linearly on a log-log scale.</a:t>
            </a:r>
          </a:p>
          <a:p>
            <a:pPr>
              <a:spcAft>
                <a:spcPts val="800"/>
              </a:spcAft>
              <a:defRPr sz="1400">
                <a:solidFill>
                  <a:srgbClr val="2C3E50"/>
                </a:solidFill>
                <a:latin typeface="Calibri"/>
              </a:defRPr>
            </a:pPr>
            <a:r>
              <a:t>This demonstrates steady, predictable convergence toward 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5276"/>
                </a:solidFill>
                <a:latin typeface="Calibri"/>
              </a:defRPr>
            </a:pPr>
            <a:r>
              <a:t>Exercise 2: Theory — (a^h - 1)/h → ln(a)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8229600" cy="3810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The natural logarithm ln(a) is the inverse of the exponential function e^x.</a:t>
            </a:r>
          </a:p>
          <a:p>
            <a:pPr>
              <a:spcAft>
                <a:spcPts val="12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The difference quotient (a^h - 1)/h approximates the derivative of a^x at x = 0.</a:t>
            </a:r>
          </a:p>
          <a:p>
            <a:pPr>
              <a:spcAft>
                <a:spcPts val="12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As h approaches zero, this quotient converges to ln(a).</a:t>
            </a:r>
          </a:p>
          <a:p>
            <a:pPr>
              <a:spcAft>
                <a:spcPts val="12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This is a direct application of the definition of the derivative:</a:t>
            </a:r>
          </a:p>
          <a:p>
            <a:pPr>
              <a:spcAft>
                <a:spcPts val="12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   f'(0) = lim_{h→0} (a^h - a^0)/h = lim_{h→0} (a^h - 1)/h = ln(a)</a:t>
            </a:r>
          </a:p>
          <a:p>
            <a:pPr>
              <a:spcAft>
                <a:spcPts val="12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We test this for a = 2, a = e, and a = 3.</a:t>
            </a:r>
          </a:p>
          <a:p>
            <a:pPr>
              <a:spcAft>
                <a:spcPts val="12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A convergence tolerance of 1 × 10⁻⁶ is used.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5276"/>
                </a:solidFill>
                <a:latin typeface="Calibri"/>
              </a:defRPr>
            </a:pPr>
            <a:r>
              <a:t>Exercise 2: Results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8229600" cy="3810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exercise2_resul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5029200" cy="29337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760720" y="1371600"/>
            <a:ext cx="3200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2C3E50"/>
                </a:solidFill>
                <a:latin typeface="Calibri"/>
              </a:defRPr>
            </a:pPr>
            <a:r>
              <a:t>The grouped bar chart shows (a^h - 1)/h for a = 2, e, 3.</a:t>
            </a:r>
          </a:p>
          <a:p>
            <a:pPr>
              <a:spcAft>
                <a:spcPts val="800"/>
              </a:spcAft>
              <a:defRPr sz="1400">
                <a:solidFill>
                  <a:srgbClr val="2C3E50"/>
                </a:solidFill>
                <a:latin typeface="Calibri"/>
              </a:defRPr>
            </a:pPr>
            <a:r>
              <a:t>As h decreases from 0.1 to 10⁻⁶, each approximation approaches its respective ln(a).</a:t>
            </a:r>
          </a:p>
          <a:p>
            <a:pPr>
              <a:spcAft>
                <a:spcPts val="800"/>
              </a:spcAft>
              <a:defRPr sz="1400">
                <a:solidFill>
                  <a:srgbClr val="2C3E50"/>
                </a:solidFill>
                <a:latin typeface="Calibri"/>
              </a:defRPr>
            </a:pPr>
            <a:r>
              <a:t>All three values reach the 1 × 10⁻⁶ tolerance at h = 10⁻⁶.</a:t>
            </a:r>
          </a:p>
          <a:p>
            <a:pPr>
              <a:spcAft>
                <a:spcPts val="800"/>
              </a:spcAft>
              <a:defRPr sz="1400">
                <a:solidFill>
                  <a:srgbClr val="2C3E50"/>
                </a:solidFill>
                <a:latin typeface="Calibri"/>
              </a:defRPr>
            </a:pPr>
            <a:r>
              <a:t>The error decreases approximately linearly with h.</a:t>
            </a:r>
          </a:p>
          <a:p>
            <a:pPr>
              <a:spcAft>
                <a:spcPts val="800"/>
              </a:spcAft>
              <a:defRPr sz="1400">
                <a:solidFill>
                  <a:srgbClr val="2C3E50"/>
                </a:solidFill>
                <a:latin typeface="Calibri"/>
              </a:defRPr>
            </a:pPr>
            <a:r>
              <a:t>This confirms first-order convergence of the difference quotient.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5276"/>
                </a:solidFill>
                <a:latin typeface="Calibri"/>
              </a:defRPr>
            </a:pPr>
            <a:r>
              <a:t>Exercise 3: Theory — e^x = Σ(x^n / n!)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8229600" cy="3810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The exponential function e^x can be expressed as an infinite power series:</a:t>
            </a:r>
          </a:p>
          <a:p>
            <a:pPr>
              <a:spcAft>
                <a:spcPts val="12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   e^x = Σ_{n=0}^{∞} (x^n / n!)</a:t>
            </a:r>
          </a:p>
          <a:p>
            <a:pPr>
              <a:spcAft>
                <a:spcPts val="12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A partial sum S_N = Σ_{n=0}^{N} (x^n / n!) approximates e^x.</a:t>
            </a:r>
          </a:p>
          <a:p>
            <a:pPr>
              <a:spcAft>
                <a:spcPts val="12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As N increases, S_N converges to e^x.</a:t>
            </a:r>
          </a:p>
          <a:p>
            <a:pPr>
              <a:spcAft>
                <a:spcPts val="12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To avoid numerical overflow from huge factorials, we use the recurrence:</a:t>
            </a:r>
          </a:p>
          <a:p>
            <a:pPr>
              <a:spcAft>
                <a:spcPts val="12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   term_{n+1} = term_n × x / (n + 1)</a:t>
            </a:r>
          </a:p>
          <a:p>
            <a:pPr>
              <a:spcAft>
                <a:spcPts val="12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   partial_sum = partial_sum + term</a:t>
            </a:r>
          </a:p>
          <a:p>
            <a:pPr>
              <a:spcAft>
                <a:spcPts val="12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This is numerically stable and supports N up to 10,000.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5276"/>
                </a:solidFill>
                <a:latin typeface="Calibri"/>
              </a:defRPr>
            </a:pPr>
            <a:r>
              <a:t>Exercise 3: Results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8229600" cy="3810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exercise3_resul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5029200" cy="215537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760720" y="1371600"/>
            <a:ext cx="3200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2C3E50"/>
                </a:solidFill>
                <a:latin typeface="Calibri"/>
              </a:defRPr>
            </a:pPr>
            <a:r>
              <a:t>The bar chart shows partial sums S_N approaching e² = 7.389056098930650.</a:t>
            </a:r>
          </a:p>
          <a:p>
            <a:pPr>
              <a:spcAft>
                <a:spcPts val="800"/>
              </a:spcAft>
              <a:defRPr sz="1400">
                <a:solidFill>
                  <a:srgbClr val="2C3E50"/>
                </a:solidFill>
                <a:latin typeface="Calibri"/>
              </a:defRPr>
            </a:pPr>
            <a:r>
              <a:t>Error &lt; 10⁻² is achieved at N = 7 terms.</a:t>
            </a:r>
          </a:p>
          <a:p>
            <a:pPr>
              <a:spcAft>
                <a:spcPts val="800"/>
              </a:spcAft>
              <a:defRPr sz="1400">
                <a:solidFill>
                  <a:srgbClr val="2C3E50"/>
                </a:solidFill>
                <a:latin typeface="Calibri"/>
              </a:defRPr>
            </a:pPr>
            <a:r>
              <a:t>Error &lt; 10⁻⁶ is achieved at N = 13 terms.</a:t>
            </a:r>
          </a:p>
          <a:p>
            <a:pPr>
              <a:spcAft>
                <a:spcPts val="800"/>
              </a:spcAft>
              <a:defRPr sz="1400">
                <a:solidFill>
                  <a:srgbClr val="2C3E50"/>
                </a:solidFill>
                <a:latin typeface="Calibri"/>
              </a:defRPr>
            </a:pPr>
            <a:r>
              <a:t>Error &lt; 10⁻¹⁰ is achieved at N = 17 terms.</a:t>
            </a:r>
          </a:p>
          <a:p>
            <a:pPr>
              <a:spcAft>
                <a:spcPts val="800"/>
              </a:spcAft>
              <a:defRPr sz="1400">
                <a:solidFill>
                  <a:srgbClr val="2C3E50"/>
                </a:solidFill>
                <a:latin typeface="Calibri"/>
              </a:defRPr>
            </a:pPr>
            <a:r>
              <a:t>The final error at N = 10,000 is 1.78 × 10⁻¹⁵ (machine precision).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5276"/>
                </a:solidFill>
                <a:latin typeface="Calibri"/>
              </a:defRPr>
            </a:pPr>
            <a:r>
              <a:t>Numerical Accuracy and Stability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8229600" cy="3810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Floating-point precision limits the accuracy of numerical computations.</a:t>
            </a:r>
          </a:p>
          <a:p>
            <a:pPr>
              <a:spcAft>
                <a:spcPts val="12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Directly computing huge factorials (e.g., 10000!) causes overflow.</a:t>
            </a:r>
          </a:p>
          <a:p>
            <a:pPr>
              <a:spcAft>
                <a:spcPts val="12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The recurrence relation term_{n+1} = term_n × x / (n + 1) avoids this problem.</a:t>
            </a:r>
          </a:p>
          <a:p>
            <a:pPr>
              <a:spcAft>
                <a:spcPts val="12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Convergence tolerance (1 × 10⁻⁶) provides a practical stopping criterion.</a:t>
            </a:r>
          </a:p>
          <a:p>
            <a:pPr>
              <a:spcAft>
                <a:spcPts val="12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Numerical stability ensures that small errors do not grow during computation.</a:t>
            </a:r>
          </a:p>
          <a:p>
            <a:pPr>
              <a:spcAft>
                <a:spcPts val="12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These principles are essential for reliable scientific computing.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5276"/>
                </a:solidFill>
                <a:latin typeface="Calibri"/>
              </a:defRPr>
            </a:pPr>
            <a:r>
              <a:t>Conclusions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8229600" cy="3810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Exercise 1: (1 + 1/n)^n converges to e as n increases.</a:t>
            </a:r>
          </a:p>
          <a:p>
            <a:pPr>
              <a:spcAft>
                <a:spcPts val="12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Exercise 2: (a^h - 1)/h converges to ln(a) as h approaches zero.</a:t>
            </a:r>
          </a:p>
          <a:p>
            <a:pPr>
              <a:spcAft>
                <a:spcPts val="12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Exercise 3: The power series Σ(x^n / n!) converges to e^x as N increases.</a:t>
            </a:r>
          </a:p>
          <a:p>
            <a:pPr>
              <a:spcAft>
                <a:spcPts val="12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Numerical methods can approximate mathematical functions accurately.</a:t>
            </a:r>
          </a:p>
          <a:p>
            <a:pPr>
              <a:spcAft>
                <a:spcPts val="12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Increasing resolution (n or h) or the number of terms (N) generally improves approximation accuracy.</a:t>
            </a:r>
          </a:p>
          <a:p>
            <a:pPr>
              <a:spcAft>
                <a:spcPts val="12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Numerical stability and floating-point precision are critical considerations.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